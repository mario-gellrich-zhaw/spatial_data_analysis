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5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2935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4C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20040"/>
          </a:xfrm>
          <a:prstGeom prst="rect">
            <a:avLst/>
          </a:prstGeom>
          <a:solidFill>
            <a:srgbClr val="3E7CB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D5D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Spatiotemporal Urban Activity Patterns · Zurich Prototype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3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Spatiotemporal Urban Activity Patterns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D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prototype for students — Zurich,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886200"/>
            <a:ext cx="8046720" cy="7772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Barrena-Herrán, Modrego-Monforte &amp; Grijalba (2025).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Revealing Spatiotemporal Urban Activity Patterns. </a:t>
            </a:r>
            <a:r>
              <a:rPr lang="en-US" sz="1200" dirty="0">
                <a:solidFill>
                  <a:srgbClr val="BD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ISPRS Int. J. Geo-Inf. 14, 221.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study the temporal rhythm of cities?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people concentrate during the day shapes almost everything in a city — transport demand, noise, retail turnover, public safety, air quality.
Classical urban planning focused on space. Time-geography (Hägerstrand, 1970) added the temporal dimension. Today, location-based data lets us measure both at scale.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577840" y="1051560"/>
            <a:ext cx="3200400" cy="100584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5577840" y="1051560"/>
            <a:ext cx="73152" cy="10058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5760720" y="11612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760720" y="1600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are now measured continuously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2194560"/>
            <a:ext cx="3200400" cy="100584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5577840" y="2194560"/>
            <a:ext cx="73152" cy="10058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5760720" y="23042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760720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in the reference methodology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3337560"/>
            <a:ext cx="3200400" cy="100584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5577840" y="3337560"/>
            <a:ext cx="73152" cy="10058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5760720" y="34472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k-shape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760720" y="3886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on normalised profile shape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in one slide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Barrena-Herrán, Modrego-Monforte &amp; Grijalba (2025)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Donostia-San Sebastián (ES).
</a:t>
            </a: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Popular Times for 1,378 POIs, one typical Friday.
</a:t>
            </a: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grid (Voronoi cells around street intersections).
</a:t>
            </a: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weighted occupancy → k-shape → NNA + KDE.
</a:t>
            </a: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distinct daily rhythm clusters with clear spatial footprints.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577840" y="1051560"/>
            <a:ext cx="3200400" cy="347472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760720" y="1188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60720" y="15087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form and daily rhythm are coupled — medieval cores, retail streets and residential neighbourhoods each have their own temporal fingerprint.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0" y="3886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Our job today: reproduce this with open Zurich data.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five-stage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645920" cy="256032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645920" cy="914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POI + GPT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21408" y="1188720"/>
            <a:ext cx="1645920" cy="256032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2121408" y="1188720"/>
            <a:ext cx="1645920" cy="914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2258568" y="1417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258568" y="20574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unit of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77056" y="1188720"/>
            <a:ext cx="1645920" cy="256032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>
            <a:off x="3877056" y="1188720"/>
            <a:ext cx="1645920" cy="914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4014216" y="1417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014216" y="20574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hourly occupancy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32704" y="1188720"/>
            <a:ext cx="1645920" cy="256032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Shape 15"/>
          <p:cNvSpPr/>
          <p:nvPr/>
        </p:nvSpPr>
        <p:spPr>
          <a:xfrm>
            <a:off x="5632704" y="1188720"/>
            <a:ext cx="1645920" cy="914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5769864" y="1417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769864" y="20574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clustering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88352" y="1188720"/>
            <a:ext cx="1645920" cy="256032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Shape 19"/>
          <p:cNvSpPr/>
          <p:nvPr/>
        </p:nvSpPr>
        <p:spPr>
          <a:xfrm>
            <a:off x="7388352" y="1188720"/>
            <a:ext cx="1645920" cy="914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7525512" y="1417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525512" y="20574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analysis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follows the same five stages — but uses an open, reproducible dataset that students can run end-to-end in an afternoon.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Zurich dataset (2025)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pedestrian &amp; bicycle counts from Stadt Zürich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65960" cy="100584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sensors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051560"/>
            <a:ext cx="1965960" cy="100584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2514600" y="11155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14600" y="16276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1965960" cy="100584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4663440" y="11155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16276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resolution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051560"/>
            <a:ext cx="1965960" cy="100584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6812280" y="11155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12280" y="16276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2025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33172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
</a:t>
            </a:r>
            <a:r>
              <a:rPr lang="en-US" sz="10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2025_verkehrszaehlungen_werte_fussgaenger_velo.csv
taz.view_eco_standorte.csv
</a:t>
            </a: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quantities
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bike &amp; pedestrian counts (IN / OUT).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33172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substitute?
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Popular Times requires scraping. Municipal sensor data is open, licence-clean, reproducible and exposes the same temporal structure we want to teach.
</a:t>
            </a: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
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spatial units (25 vs. ~570) but a full year of data — ideal for teaching time-series clustering.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stations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active pedestrian &amp; bicycle sensors across the city</a:t>
            </a:r>
            <a:endParaRPr lang="en-US" sz="1300" dirty="0"/>
          </a:p>
        </p:txBody>
      </p:sp>
      <p:pic>
        <p:nvPicPr>
          <p:cNvPr id="4" name="Image 0" descr="/sessions/intelligent-blissful-shannon/slide_assets/stations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58521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051560"/>
            <a:ext cx="2377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in the city centre (Limmat axis, Bahnhofstrasse area) and sparser coverage in residential districts.
Most sensors count bikes in both directions; a subset (~6) is pedestrian-only.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activity heatmap — day of week × hour</a:t>
            </a:r>
            <a:endParaRPr lang="en-US" sz="1300" dirty="0"/>
          </a:p>
        </p:txBody>
      </p:sp>
      <p:pic>
        <p:nvPicPr>
          <p:cNvPr id="4" name="Image 0" descr="/sessions/intelligent-blissful-shannon/slide_assets/heatmap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85216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05156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
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Weekday bimodal peaks → commuter site
• Saturday midday peak → shopping street
• Warm Friday evenings → leisure / nightlife
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3886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clustering, always eyeball the data. Weekly heatmaps let students spot commuter, retail and leisure patterns without any maths.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counts to fingerprints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→ 4 — why we normalise time series</a:t>
            </a:r>
            <a:endParaRPr lang="en-US" sz="1300" dirty="0"/>
          </a:p>
        </p:txBody>
      </p:sp>
      <p:pic>
        <p:nvPicPr>
          <p:cNvPr id="4" name="Image 0" descr="/sessions/intelligent-blissful-shannon/slide_assets/raw_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4297680" cy="2560320"/>
          </a:xfrm>
          <a:prstGeom prst="rect">
            <a:avLst/>
          </a:prstGeom>
        </p:spPr>
      </p:pic>
      <p:pic>
        <p:nvPicPr>
          <p:cNvPr id="5" name="Image 1" descr="/sessions/intelligent-blissful-shannon/slide_assets/norm_profi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05840"/>
            <a:ext cx="42976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3611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magnitudes (problem)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572000" y="3611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peak → shape only (solution)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74320" y="40233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quiet residential sensor and a busy central sensor can have the exact same shape — two peaks at 8 &amp; 18. After dividing by peak, they live on the same [0, 100] scale and the clustering compares what actually matters: the rhythm.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k — elbow + silhouette</a:t>
            </a:r>
            <a:endParaRPr lang="en-US" sz="1300" dirty="0"/>
          </a:p>
        </p:txBody>
      </p:sp>
      <p:pic>
        <p:nvPicPr>
          <p:cNvPr id="4" name="Image 0" descr="/sessions/intelligent-blissful-shannon/slide_assets/elbow_silhou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85216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05156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
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k where adding clusters stops paying off — here k ≈ 4.
</a:t>
            </a: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
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in [-1, 1]. Higher means denser, better-separated clusters.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3886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diagnostics agree that small k (3–4) already captures most of the structure in our 25-sensor dataset.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algorithm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(today) vs. k-shape (paper)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01752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91440" cy="301752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Minimises Euclidean distance to centroids
• Works on raw or normalised vectors
• Sensitive to time shifts (8:00 ≠ 9:00 peak)
• Built-in to sklearn — fast, simple, ideal for teaching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114800" cy="301752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91440" cy="3017520"/>
          </a:xfrm>
          <a:prstGeom prst="rect">
            <a:avLst/>
          </a:prstGeom>
          <a:solidFill>
            <a:srgbClr val="F4A547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489204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k-shape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Shape-based distance (cross-correlation)
• Invariant to amplitude AND phase shift
• Better for time-series → chosen in the paper
• In tslearn — drop-in replacement in app.py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strategy: start with k-means (transparent), then let students swap it for k-shape and observe the difference.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temporal clusters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Zurich daily rhythms</a:t>
            </a:r>
            <a:endParaRPr lang="en-US" sz="1300" dirty="0"/>
          </a:p>
        </p:txBody>
      </p:sp>
      <p:pic>
        <p:nvPicPr>
          <p:cNvPr id="4" name="Image 0" descr="/sessions/intelligent-blissful-shannon/slide_assets/centroi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85216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188720"/>
            <a:ext cx="201168" cy="201168"/>
          </a:xfrm>
          <a:prstGeom prst="ellipse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" name="Text 3"/>
          <p:cNvSpPr/>
          <p:nvPr/>
        </p:nvSpPr>
        <p:spPr>
          <a:xfrm>
            <a:off x="667512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— Classic commuter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7512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peaks, 8h &amp; 17–18h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0" y="1965960"/>
            <a:ext cx="201168" cy="201168"/>
          </a:xfrm>
          <a:prstGeom prst="ellipse">
            <a:avLst/>
          </a:prstGeom>
          <a:solidFill>
            <a:srgbClr val="F4A547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9" name="Text 6"/>
          <p:cNvSpPr/>
          <p:nvPr/>
        </p:nvSpPr>
        <p:spPr>
          <a:xfrm>
            <a:off x="667512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— Flat residential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7512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late-night outlier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0" y="2743200"/>
            <a:ext cx="201168" cy="20116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2" name="Text 9"/>
          <p:cNvSpPr/>
          <p:nvPr/>
        </p:nvSpPr>
        <p:spPr>
          <a:xfrm>
            <a:off x="667512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— Steady hotspot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7512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all-day activity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0" y="352044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5" name="Text 12"/>
          <p:cNvSpPr/>
          <p:nvPr/>
        </p:nvSpPr>
        <p:spPr>
          <a:xfrm>
            <a:off x="6675120" y="3429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— Lunchtime leisure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75120" y="3703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Midday bump, no morning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spatial distribution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each rhythm live in Zurich?</a:t>
            </a:r>
            <a:endParaRPr lang="en-US" sz="1300" dirty="0"/>
          </a:p>
        </p:txBody>
      </p:sp>
      <p:pic>
        <p:nvPicPr>
          <p:cNvPr id="4" name="Image 0" descr="/sessions/intelligent-blissful-shannon/slide_assets/cluster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58521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051560"/>
            <a:ext cx="2377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
</a:t>
            </a: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Commuter cluster dominates peripheral bike corridors.
• Hotspot cluster concentrates in the CBD and along the Limmat.
• Outlier stations stand out — often night-time or sparse sites.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accompanying Streamlit app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297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pages, one sidebar of controls:
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Introduction — paper summary &amp; pipeline
2 · Dataset exploration — interactive map + heatmap
3 · Temporal profiles — raw vs. normalised
4 · Clustering — elbow, silhouette, centroids
5 · Spatial analysis — map coloured by cluster
6 · Exercises — Level 1–4 student tasks
</a:t>
            </a:r>
            <a:r>
              <a:rPr lang="en-US" sz="1200" b="1" dirty="0">
                <a:solidFill>
                  <a:srgbClr val="F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Sidebar: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modality, day type, month range, k.</a:t>
            </a:r>
            <a:endParaRPr lang="en-US" sz="1200" dirty="0"/>
          </a:p>
        </p:txBody>
      </p:sp>
      <p:pic>
        <p:nvPicPr>
          <p:cNvPr id="5" name="Image 0" descr="/sessions/intelligent-blissful-shannon/slide_assets/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97280"/>
            <a:ext cx="3931920" cy="1051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46320" y="2331720"/>
            <a:ext cx="3931920" cy="210312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" name="Text 4"/>
          <p:cNvSpPr/>
          <p:nvPr/>
        </p:nvSpPr>
        <p:spPr>
          <a:xfrm>
            <a:off x="4983480" y="2468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983480" y="2743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98348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pandas, scikit-learn, streamlit, altair, pydeck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83480" y="3794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D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(CSV) bundled in /data — no download step.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F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2402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exercises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D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levels — from sidebar tweaking to method swapping.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Reproduce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up: exploring the sidebar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329184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97480" cy="914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sensitivity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pedestrian-only and bike-only. Which stations cluster differently?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97480" cy="329184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97480" cy="914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342900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vs. weekend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4231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rhythms invert — identify a 'commuter on weekdays, leisure on weekends' sensor.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97480" cy="329184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97480" cy="914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630936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5508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check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4231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(6–8) vs. winter (12–2): which clusters are robust, which change?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Explain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clusters to narratives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each cluster centroid (k = 4) in one sentence — 'commuter', 'evening peak', 'flat', etc.
</a:t>
            </a: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two stations from your map and justify their cluster assignment given their land-use context (check on OpenStreetMap).
</a:t>
            </a: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100-word planning takeaway: which neighbourhoods might benefit from intervention based on what the rhythms reveal?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06440" y="1051560"/>
            <a:ext cx="2971800" cy="347472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98932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89320" y="1508760"/>
            <a:ext cx="2697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1-page 'Temporal fingerprints of my neighbourhood' briefing with the cluster map, 4 centroids and 3 sentences of interpretation per cluster.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89320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as PDF.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Extend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algorithm, add dimensions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50876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91440" cy="1508760"/>
          </a:xfrm>
          <a:prstGeom prst="rect">
            <a:avLst/>
          </a:prstGeom>
          <a:solidFill>
            <a:srgbClr val="F4A547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KMeans with AgglomerativeClustering. Plot the dendrogram.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114800" cy="150876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91440" cy="1508760"/>
          </a:xfrm>
          <a:prstGeom prst="rect">
            <a:avLst/>
          </a:prstGeom>
          <a:solidFill>
            <a:srgbClr val="F4A547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493776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DTW / k-shape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tslearn, swap in KShape — compare cluster memberships.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4114800" cy="150876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91440" cy="1508760"/>
          </a:xfrm>
          <a:prstGeom prst="rect">
            <a:avLst/>
          </a:prstGeom>
          <a:solidFill>
            <a:srgbClr val="F4A547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embedding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24-dim profiles to 2-D, colour by cluster, check separability.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788920"/>
            <a:ext cx="4114800" cy="150876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91440" cy="1508760"/>
          </a:xfrm>
          <a:prstGeom prst="rect">
            <a:avLst/>
          </a:prstGeom>
          <a:solidFill>
            <a:srgbClr val="F4A547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493776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37760" y="3383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20 seeds; measure how often two sensors end up together.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— Connect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back to the paper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toy example: two sine waves offset by 1 hour. Show that k-means assigns them to different clusters, but k-shape does not.
</a:t>
            </a: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Section 3.2 of the paper. Map their five clusters to the ones you found in Zurich — which correspond and which have no Zurich equivalent?
</a:t>
            </a: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weights cells by capacity (people/m²). Add a weight to our k-means based on total counts — does the clustering change?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to take home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24712"/>
            <a:ext cx="502920" cy="502920"/>
          </a:xfrm>
          <a:prstGeom prst="ellipse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365760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have rhythms.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43400" y="10972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hourly profiles reveal structure that raw counts hide.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37944"/>
            <a:ext cx="502920" cy="502920"/>
          </a:xfrm>
          <a:prstGeom prst="ellipse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365760" y="1837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1810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beats scale.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43400" y="181051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Normalising to peak lets a quiet alley share a cluster with a busy square if their rhythms match.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51176"/>
            <a:ext cx="502920" cy="502920"/>
          </a:xfrm>
          <a:prstGeom prst="ellipse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365760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25237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k with diagnostics.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43400" y="252374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+ silhouette give you a defensible choice — not a guess.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64408"/>
            <a:ext cx="502920" cy="502920"/>
          </a:xfrm>
          <a:prstGeom prst="ellipse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36576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32369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matters.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43400" y="323697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a starting point; k-shape and DTW fit time-series better.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977640"/>
            <a:ext cx="502920" cy="502920"/>
          </a:xfrm>
          <a:prstGeom prst="ellipse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3657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51560" y="3950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transfer.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43400" y="395020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methodology works on any spatiotemporal activity dataset.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0" dirty="0">
                <a:solidFill>
                  <a:srgbClr val="F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8046720" cy="155448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DATA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Barrena-Herrán, M., Modrego-Monforte, I. &amp; Grijalba, O. (2025).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Revealing Spatiotemporal Urban Activity Patterns: A Machine Learning Study Using Google Popular Times. </a:t>
            </a:r>
            <a:r>
              <a:rPr lang="en-US" sz="1200" dirty="0">
                <a:solidFill>
                  <a:srgbClr val="BD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ISPRS Int. J. Geo-Inf., 14, 221.
Stadt Zürich Open Data · Verkehrszählungen Fussgänger &amp; Velo 2025.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1535</Words>
  <Application>Microsoft Office PowerPoint</Application>
  <PresentationFormat>Bildschirmpräsentation (16:9)</PresentationFormat>
  <Paragraphs>178</Paragraphs>
  <Slides>20</Slides>
  <Notes>20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Spatiotemporal Urban Activity Patterns</dc:title>
  <dc:subject>PptxGenJS Presentation</dc:subject>
  <dc:creator>Prepared for students</dc:creator>
  <cp:lastModifiedBy>Gellrich Mario (gell)</cp:lastModifiedBy>
  <cp:revision>2</cp:revision>
  <dcterms:created xsi:type="dcterms:W3CDTF">2026-04-22T11:44:53Z</dcterms:created>
  <dcterms:modified xsi:type="dcterms:W3CDTF">2026-04-22T12:02:31Z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2026-04-22T12:02:31Z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b6791229-acaa-4158-be55-bf78597a0254</vt:lpwstr>
  </property>
  <property fmtid="{D5CDD505-2E9C-101B-9397-08002B2CF9AE}" pid="8" name="MSIP_Label_10d9bad3-6dac-4e9a-89a3-89f3b8d247b2_ContentBits">
    <vt:lpwstr>0</vt:lpwstr>
  </property>
  <property fmtid="{D5CDD505-2E9C-101B-9397-08002B2CF9AE}" pid="9" name="MSIP_Label_10d9bad3-6dac-4e9a-89a3-89f3b8d247b2_Tag">
    <vt:lpwstr>10, 3, 0, 1</vt:lpwstr>
  </property>
</Properties>
</file>